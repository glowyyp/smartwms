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3" d="100"/>
          <a:sy n="73" d="100"/>
        </p:scale>
        <p:origin x="380" y="-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452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US-SEC-01 - Escenario 1
Rol: Como Usuario (Admin/Operario)
Funcionalidad: Necesito iniciar sesión con mis credenciales
Razón: Con la finalidad de obtener un token seguro JWT según mi rol
Contexto: En caso que las credenciales existan en la BD
Evento: Cuando envíe petición al endpoint /login
Resultado: El sistema validará el hash y retornará un JWT con 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US-SEC-01 - Escenario 2
Rol: Como Usuario (Admin/Operario)
Funcionalidad: Necesito iniciar sesión con mis credenciales
Razón: Con la finalidad de obtener un token seguro JWT según mi rol
Contexto: En caso que se use un token expirado o inexistente
Evento: Cuando consuma endpoint protegido
Resultado: El sistema denegará el acceso con HTTP 401 Unauthorized.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US-BE-01 - Escenario 1
Rol: Como Administrador / DBA
Funcionalidad: Necesito provisionar la base de datos PostgreSQL con control ACID
Razón: Con la finalidad de garantizar la integridad estricta del inventario
Contexto: En caso que el servidor local ejecute el script inicial
Evento: Cuando se levante el contenedor BD
Resultado: El sistema creará las tablas relacionales y llaves foráneas.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US-BE-01 - Escenario 2
Rol: Como Administrador / DBA
Funcionalidad: Necesito provisionar la base de datos PostgreSQL con control ACID
Razón: Con la finalidad de garantizar la integridad estricta del inventario
Contexto: En caso que dos transacciones modifiquen el mismo stock
Evento: Cuando se ejecute descuento simultáneo
Resultado: PostgreSQL bloqueará la fila (Row-Level Locking) evitando condiciones de carrera.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US-WEB-01 - Escenario 1
Rol: Como Jefe de Bodega
Funcionalidad: Necesito configurar el layout físico (zonas, pasillos y racks)
Razón: Con la finalidad de mapear digitalmente el inventario y crear rutas
Contexto: En caso que los datos sean obligatorios y el código único
Evento: Cuando haga clic en 'Guardar Ubicación'
Resultado: El sistema registrará la ubicación y actualizará el mapa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US-WEB-01 - Escenario 2
Rol: Como Jefe de Bodega
Funcionalidad: Necesito configurar el layout físico (zonas, pasillos y racks)
Razón: Con la finalidad de mapear digitalmente el inventario y crear rutas
Contexto: En caso que intente registrar un rack ya existente
Evento: Cuando haga clic en 'Guardar Ubicación'
Resultado: El sistema bloqueará la acción mostrando alerta de duplicidad.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US-LOG-01 - Escenario 1
Rol: Como Sistema E-commerce
Funcionalidad: Necesito enviar órdenes de compra vía Webhooks
Razón: Con la finalidad de sincronizar ventas digitales en tiempo real
Contexto: En caso que el JSON sea válido
Evento: Cuando la API reciba el POST
Resultado: El sistema registrará la orden y reservará el stock físicamente.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US-LOG-01 - Escenario 2
Rol: Como Sistema E-commerce
Funcionalidad: Necesito enviar órdenes de compra vía Webhooks
Razón: Con la finalidad de sincronizar ventas digitales en tiempo real
Contexto: En caso que falten campos obligatorios (SKU, cant)
Evento: Cuando la API reciba el POST
Resultado: El sistema retornará HTTP 400 Bad Request indicando el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US-LOG-02 - Escenario 1
Rol: Como Operario de Bodega
Funcionalidad: Necesito registrar el almacenamiento (Putaway) escaneando QR
Razón: Con la finalidad de ingresar stock físico al estante correspondiente
Contexto: En caso que escanee un QR de estante válido y luego un SKU válido
Evento: Cuando se procese la lectura de ambos códigos
Resultado: El sistema asignará el stock a la ubicación mediante un UPDATE en BD.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US-LOG-02 - Escenario 2
Rol: Como Operario de Bodega
Funcionalidad: Necesito registrar el almacenamiento (Putaway) escaneando QR
Razón: Con la finalidad de ingresar stock físico al estante correspondiente
Contexto: En caso que el QR de estante no esté registrado en el layout
Evento: Cuando se decodifique el QR
Resultado: El sistema emitirá un error indicando 'Ubicación no encontrada'.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US-WEB-02 - Escenario 1
Rol: Como Jefe de Bodega
Funcionalidad: Necesito visualizar un monitor de pedidos en tiempo real
Razón: Con la finalidad de supervisar el flujo operativo en vivo
Contexto: En caso que un operario cambie estado del pedido
Evento: Cuando el backend emita la actualización
Resultado: El tablero se actualizará automáticamente (WebSockets).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US-WEB-02 - Escenario 2
Rol: Como Jefe de Bodega
Funcionalidad: Necesito visualizar un monitor de pedidos en tiempo real
Razón: Con la finalidad de supervisar el flujo operativo en vivo
Contexto: En caso que seleccione el filtro 'En Picking'
Evento: Cuando aplique el filtro en la web
Resultado: El listado mostrará solo órdenes que se encuentran en ese estado.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US-MOV-01 - Escenario 1
Rol: Como Operario de Bodega
Funcionalidad: Necesito recibir la ruta guiada de recolección (picking)
Razón: Con la finalidad de reducir el tiempo de desplazamiento físico
Contexto: En caso que inicie una orden asignada con productos
Evento: Cuando presione 'Iniciar Picking'
Resultado: La app ordenará los ítems según la lógica del layout físico.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US-MOV-01 - Escenario 2
Rol: Como Operario de Bodega
Funcionalidad: Necesito recibir la ruta guiada de recolección (picking)
Razón: Con la finalidad de reducir el tiempo de desplazamiento físico
Contexto: En caso que procese el último ítem de la orden
Evento: Cuando valide y descuente el último producto
Resultado: La app indicará éxito y guiará al operario hacia la zona de Packing.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US-MOV-02 - Escenario 1
Rol: Como Operario de Bodega
Funcionalidad: Necesito escanear códigos QR de manera continua (Zero-Touch)
Razón: Con la finalidad de validar recolección con manos libres
Contexto: En caso que el SKU escaneado coincida con la orden
Evento: Cuando la cámara decodifique el QR
Resultado: El sistema emitirá pitido verde, descontará la unidad y avanzará.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US-MOV-02 - Escenario 2
Rol: Como Operario de Bodega
Funcionalidad: Necesito escanear códigos QR de manera continua (Zero-Touch)
Razón: Con la finalidad de validar recolección con manos libres
Contexto: En caso que el SKU no pertenezca a la orden activa
Evento: Cuando la cámara decodifique el QR
Resultado: Emitirá tono grave de error, deteniendo el escaneo continuo.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US-MOV-03 - Escenario 1
Rol: Como Operario de Bodega
Funcionalidad: Necesito escanear un QR de Empaque Listo en la mesa de salida
Razón: Con la finalidad de cerrar el ciclo de Packing y liberar el pedido
Contexto: En caso que todos los ítems estén recolectados previamente
Evento: Cuando escanee el QR de Empaque Listo
Resultado: Cambiará el estado a 'Listo para Courier' y descontará stock definitivo.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US-MOV-03 - Escenario 2
Rol: Como Operario de Bodega
Funcionalidad: Necesito escanear un QR de Empaque Listo en la mesa de salida
Razón: Con la finalidad de cerrar el ciclo de Packing y liberar el pedido
Contexto: En caso que falten productos en la lista del pedido
Evento: Cuando escanee el QR de Empaque Listo
Resultado: Denegará el cierre mostrando una alerta roja de ítems faltantes.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US-AI-01 - Escenario 1
Rol: Como Operario / Jefe
Funcionalidad: Necesito consultar stock mediante lenguaje natural
Razón: Con la finalidad de obtener respuestas rápidas sin usar menús
Contexto: En caso que el producto exista en PostgreSQL
Evento: Cuando pregunte en el chat por el stock
Resultado: Ejecutará Function Calling, consultará la BD y responderá con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US-AI-01 - Escenario 2
Rol: Como Operario / Jefe
Funcionalidad: Necesito consultar stock mediante lenguaje natural
Razón: Con la finalidad de obtener respuestas rápidas sin usar menús
Contexto: En caso que el SKU consultado no exista
Evento: Cuando pregunte en el chat por el stock
Resultado: La IA responderá que no existe, evitando alucinaciones de inventario.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US-AI-02 - Escenario 1
Rol: Como Operario de Bodega
Funcionalidad: Necesito hacer preguntas operativas al Copiloto (RAG)
Razón: Con la finalidad de resolver dudas sin interrumpir al supervisor
Contexto: En caso que el manual esté en la BD vectorial
Evento: Cuando consulte por un procedimiento logístico
Resultado: Buscará el fragmento exacto y generará una instrucción paso a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US-AI-02 - Escenario 2
Rol: Como Operario de Bodega
Funcionalidad: Necesito hacer preguntas operativas al Copiloto (RAG)
Razón: Con la finalidad de resolver dudas sin interrumpir al supervisor
Contexto: En caso que la pregunta no sea del ámbito logístico
Evento: Cuando consulte un tema ajeno
Resultado: Denegará amablemente indicando que es un asistente de bodega.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US-BI-01 - Escenario 1
Rol: Como Jefe de Bodega
Funcionalidad: Necesito visualizar un gráfico de Lead Time
Razón: Con la finalidad de analizar la eficiencia del equipo
Contexto: En caso que existan órdenes completadas en el sistema
Evento: Cuando acceda a la pestaña Dashboards BI
Resultado: Calculará el delta de tiempo por orden y renderizará el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US-BI-01 - Escenario 2
Rol: Como Jefe de Bodega
Funcionalidad: Necesito visualizar un gráfico de Lead Time
Razón: Con la finalidad de analizar la eficiencia del equipo
Contexto: En caso que filtre un periodo sin operación
Evento: Cuando aplique el filtro de fechas
Resultado: Limpiará el gráfico indicando la falta de datos suficientes.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US-BI-02 - Escenario 1
Rol: Como Jefe de Bodega
Funcionalidad: Necesito ver un widget de alerta predictiva de stock
Razón: Con la finalidad de planificar reabastecimiento a tiempo
Contexto: En caso que el stock caiga bajo su umbral mínimo configurado
Evento: Cuando el tablero termine de cargar
Resultado: Mostrará los SKUs críticos en color rojo indicando unidades restantes.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US-BI-02 - Escenario 2
Rol: Como Jefe de Bodega
Funcionalidad: Necesito ver un widget de alerta predictiva de stock
Razón: Con la finalidad de planificar reabastecimiento a tiempo
Contexto: En caso que todo el stock esté sobre el umbral mínimo
Evento: Cuando el tablero termine de cargar
Resultado: Mostrará un estado en verde indicando: Stock Saludable.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US-IOT-01 - Escenario 1
Rol: Como Jefe de Bodega
Funcionalidad: Necesito monitorear temperatura/humedad ambiental con DHT22
Razón: Con la finalidad de prevenir mermas por cadena de frío
Contexto: En caso que el ESP32 envíe lectura dentro de rangos seguros
Evento: Cuando el backend reciba la telemetría
Resultado: Guardará el dato en BD silenciosamente y actualizará el panel en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US-IOT-01 - Escenario 2
Rol: Como Jefe de Bodega
Funcionalidad: Necesito monitorear temperatura/humedad ambiental con DHT22
Razón: Con la finalidad de prevenir mermas por cadena de frío
Contexto: En caso que la lectura supere el límite máximo seguro
Evento: Cuando el backend reciba la telemetría
Resultado: Disparará una alarma sonora y visual en la pantalla web del Jefe.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US-IOT-02 - Escenario 1
Rol: Como Jefe de Bodega
Funcionalidad: Necesito detectar impactos físicos de la carga con MPU6050
Razón: Con la finalidad de identificar daños ocultos de inmediato
Contexto: En caso que la Fuerza G supere el límite preestablecido tolerado
Evento: Cuando el sensor transmita el evento de impacto
Resultado: Cambiará el estado del producto a 'En Cuarentena' y emitirá alerta.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US-IOT-02 - Escenario 2
Rol: Como Jefe de Bodega
Funcionalidad: Necesito detectar impactos físicos de la carga con MPU6050
Razón: Con la finalidad de identificar daños ocultos de inmediato
Contexto: En caso que registre un movimiento de manipulación leve
Evento: Cuando el sensor transmita la lectura continua
Resultado: Ignorará la lectura por ser de bajo impacto, evitando falsas alarmas.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de Uso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697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de Usuario — Proyecto </a:t>
            </a:r>
            <a:r>
              <a:rPr lang="en-US" sz="18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escenarios · 15 historias de usuario · 8 módulos funcionales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932688" y="418795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44622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41148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 txBox="1"/>
          <p:nvPr/>
        </p:nvSpPr>
        <p:spPr>
          <a:xfrm>
            <a:off x="3675888" y="418795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44622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Base de Datos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09360" y="41148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 txBox="1"/>
          <p:nvPr/>
        </p:nvSpPr>
        <p:spPr>
          <a:xfrm>
            <a:off x="6419088" y="418795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44622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(Gestión)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052560" y="4114800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9162288" y="418795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62288" y="4462272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e Integración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509320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 txBox="1"/>
          <p:nvPr/>
        </p:nvSpPr>
        <p:spPr>
          <a:xfrm>
            <a:off x="932688" y="5166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32688" y="5440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Móvil (Bodega)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566160" y="509320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 txBox="1"/>
          <p:nvPr/>
        </p:nvSpPr>
        <p:spPr>
          <a:xfrm>
            <a:off x="3675888" y="5166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675888" y="5440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509320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6419088" y="5166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19088" y="5440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52560" y="5093208"/>
            <a:ext cx="2514600" cy="777240"/>
          </a:xfrm>
          <a:prstGeom prst="roundRect">
            <a:avLst>
              <a:gd name="adj" fmla="val 9412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 txBox="1"/>
          <p:nvPr/>
        </p:nvSpPr>
        <p:spPr>
          <a:xfrm>
            <a:off x="9162288" y="51663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IOT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162288" y="5440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Sensores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US-SEC-01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 correcta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iniciar sesión con mis credenciales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7F4F5"/>
          </a:solidFill>
          <a:ln w="15875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1"/>
            <a:ext cx="1344168" cy="745685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030968" y="3502152"/>
            <a:ext cx="1399032" cy="13258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iniciar sesión con mis credenciales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envíe petición al endpoint /login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las credenciales existan en la BD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E9DFE3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validará el hash y retornará un JWT con rol.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30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US-SEC-01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inválido/expirado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iniciar sesión con mis credenciales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7F4F5"/>
          </a:solidFill>
          <a:ln w="15875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6D2E46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768096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40690" y="3502152"/>
            <a:ext cx="1589310" cy="1143000"/>
          </a:xfrm>
          <a:prstGeom prst="line">
            <a:avLst/>
          </a:prstGeom>
          <a:noFill/>
          <a:ln w="19050">
            <a:solidFill>
              <a:srgbClr val="6D2E46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iniciar sesión con mis credenciales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consuma endpoint protegido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se use un token expirado o inexistente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E9DFE3"/>
          </a:solidFill>
          <a:ln w="22225">
            <a:solidFill>
              <a:srgbClr val="6D2E46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denegará el acceso con HTTP 401 Unauthorized.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Acceso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US-BE-01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Creación de tablas base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provisionar la base de datos PostgreSQL con control ACID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4F5F6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795528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744895" y="3502152"/>
            <a:ext cx="1685105" cy="1060704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provisionar la base de datos PostgreSQL con control ACID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levante el contenedor BD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servidor local ejecute el script inicial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E0E3E4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creará las tablas relacionales y llaves foráneas.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Base de Datos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US-BE-01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por concurrencia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provisionar la base de datos PostgreSQL con control ACID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4F5F6"/>
          </a:solidFill>
          <a:ln w="15875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36454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36454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1"/>
            <a:ext cx="1344168" cy="736541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19070" y="3502152"/>
            <a:ext cx="1510930" cy="1161288"/>
          </a:xfrm>
          <a:prstGeom prst="line">
            <a:avLst/>
          </a:prstGeom>
          <a:noFill/>
          <a:ln w="19050">
            <a:solidFill>
              <a:srgbClr val="36454F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provisionar la base de datos PostgreSQL con control ACID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ejecute descuento simultáneo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dos transacciones modifiquen el mismo stock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E0E3E4"/>
          </a:solidFill>
          <a:ln w="22225">
            <a:solidFill>
              <a:srgbClr val="36454F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bloqueará la fila (Row-Level Locking) evitando condiciones de carrera.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Base de Datos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US-WEB-01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exitoso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configurar el layout físico (zonas, pasillos y racks)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4F7F4"/>
          </a:solidFill>
          <a:ln w="15875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75526" y="3502152"/>
            <a:ext cx="1554474" cy="114300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configurar el layout físico (zonas, pasillos y racks)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haga clic en 'Guardar Ubicación'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los datos sean obligatorios y el código único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FE7D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registrará la ubicación y actualizará el mapa visual.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(Gestión)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US-WEB-01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duplicado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configurar el layout físico (zonas, pasillos y racks)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4F7F4"/>
          </a:solidFill>
          <a:ln w="15875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722376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0" y="3502152"/>
            <a:ext cx="1478280" cy="1197864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configurar el layout físico (zonas, pasillos y racks)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haga clic en 'Guardar Ubicación'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intente registrar un rack ya existente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FE7D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bloqueará la acción mostrando alerta de duplicidad.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(Gestión)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US-LOG-01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Ingesta de orden exitosa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enviar órdenes de compra vía Webhooks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BF6F5"/>
          </a:solidFill>
          <a:ln w="15875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99008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93776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49224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04672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447288"/>
            <a:ext cx="0" cy="164592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02920" y="3630168"/>
            <a:ext cx="36576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E-commerce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 flipV="1">
            <a:off x="1005840" y="2359152"/>
            <a:ext cx="1234440" cy="768096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 flipV="1">
            <a:off x="10030968" y="3502152"/>
            <a:ext cx="1399032" cy="1197864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enviar órdenes de compra vía Webhooks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API reciba el POST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JSON sea válido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F4E4E2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registrará la orden y reservará el stock físicamente.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e Integración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US-LOG-01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Rechazo de payload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enviar órdenes de compra vía Webhooks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BF6F5"/>
          </a:solidFill>
          <a:ln w="15875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99008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93776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49224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04672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447288"/>
            <a:ext cx="0" cy="164592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502920" y="3630168"/>
            <a:ext cx="36576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E-commerce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1109960" y="299008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11237976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11393424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548872" y="3136392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11430000" y="3447288"/>
            <a:ext cx="0" cy="164592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11247120" y="3630168"/>
            <a:ext cx="36576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E-commerce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V="1">
            <a:off x="1005840" y="2359152"/>
            <a:ext cx="1234440" cy="630936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 flipV="1">
            <a:off x="10030967" y="3502152"/>
            <a:ext cx="1399033" cy="1197864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enviar órdenes de compra vía Webhooks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API reciba el POST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falten campos obligatorios (SKU, cant)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F4E4E2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retornará HTTP 400 Bad Request indicando el error.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e Integración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US-LOG-02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Asignación exitosa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registrar el almacenamiento (Putaway) escaneando QR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BF6F5"/>
          </a:solidFill>
          <a:ln w="15875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030968" y="3502152"/>
            <a:ext cx="1399032" cy="1197864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registrar el almacenamiento (Putaway) escaneando QR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procese la lectura de ambos códigos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escanee un QR de estante válido y luego un SKU válido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F4E4E2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asignará el stock a la ubicación mediante un UPDATE en BD.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e Integración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US-LOG-02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Ubicación inexistente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registrar el almacenamiento (Putaway) escaneando QR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BF6F5"/>
          </a:solidFill>
          <a:ln w="15875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030967" y="3502152"/>
            <a:ext cx="1399033" cy="1197864"/>
          </a:xfrm>
          <a:prstGeom prst="line">
            <a:avLst/>
          </a:prstGeom>
          <a:noFill/>
          <a:ln w="19050">
            <a:solidFill>
              <a:srgbClr val="B8504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registrar el almacenamiento (Putaway) escaneando QR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decodifique el QR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QR de estante no esté registrado en el layout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F4E4E2"/>
          </a:solidFill>
          <a:ln w="22225">
            <a:solidFill>
              <a:srgbClr val="B8504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emitirá un error indicando 'Ubicación no encontrada'.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Logística e Integración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US-WEB-02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Actualización reactiva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monitor de pedidos en tiempo real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4F7F4"/>
          </a:solidFill>
          <a:ln w="15875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030968" y="3502152"/>
            <a:ext cx="1399032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monitor de pedidos en tiempo real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backend emita la actualización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un operario cambie estado del pedido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FE7D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tablero se actualizará automáticamente (WebSockets).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(Gestión)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US-WEB-02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Filtrado por estado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monitor de pedidos en tiempo real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4F7F4"/>
          </a:solidFill>
          <a:ln w="15875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2C5F2D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030967" y="3502152"/>
            <a:ext cx="1399033" cy="1197864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monitor de pedidos en tiempo real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aplique el filtro en la web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seleccione el filtro 'En Picking'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FE7DF"/>
          </a:solidFill>
          <a:ln w="22225">
            <a:solidFill>
              <a:srgbClr val="2C5F2D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listado mostrará solo órdenes que se encuentran en ese estado.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(Gestión)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US-MOV-01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Ruta secuencial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recibir la ruta guiada de recolección (picking)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72237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149840" y="3502152"/>
            <a:ext cx="128016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recibir la ruta guiada de recolección (picking)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presione 'Iniciar Picking'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inicie una orden asignada con productos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CE9EE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ordenará los ítems según la lógica del layout físico.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Móvil (Bodega)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US-MOV-01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ruta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recibir la ruta guiada de recolección (picking)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72237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030967" y="3502152"/>
            <a:ext cx="1399033" cy="119786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recibir la ruta guiada de recolección (picking)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valide y descuente el último producto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procese el último ítem de la orden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CE9EE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indicará éxito y guiará al operario hacia la zona de Packing.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Móvil (Bodega)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US-MOV-02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 automático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códigos QR de manera continua (Zero-Touch)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27314" y="2359152"/>
            <a:ext cx="1412966" cy="63093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1" y="3502152"/>
            <a:ext cx="1478280" cy="118872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códigos QR de manera continua (Zero-Touch)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cámara decodifique el QR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SKU escaneado coincida con la orden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CE9EE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emitirá pitido verde, descontará la unidad y avanzará.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Móvil (Bodega)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US-MOV-02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incorrecta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códigos QR de manera continua (Zero-Touch)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3093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0" y="3502152"/>
            <a:ext cx="1478280" cy="116128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códigos QR de manera continua (Zero-Touch)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cámara decodifique el QR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SKU no pertenezca a la orden activa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CE9EE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Emitirá tono grave de error, deteniendo el escaneo continuo.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Móvil (Bodega)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US-MOV-03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de pedido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un QR de Empaque Listo en la mesa de salida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109960" y="2990088"/>
            <a:ext cx="64008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237976" y="3136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11393424" y="3136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11548872" y="3136392"/>
            <a:ext cx="82296" cy="8229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447288"/>
            <a:ext cx="0" cy="164592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11247120" y="3630168"/>
            <a:ext cx="3657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E-commerce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 flipV="1">
            <a:off x="896112" y="2359152"/>
            <a:ext cx="1344168" cy="630936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 flipV="1">
            <a:off x="9951720" y="3502151"/>
            <a:ext cx="1478280" cy="1142999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un QR de Empaque Listo en la mesa de salida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escanee el QR de Empaque Listo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todos los ítems estén recolectados previamente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CE9EE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9" name="Text 37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Cambiará el estado a 'Listo para Courier' y descontará stock definitivo.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Móvil (Bodega)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US-MOV-03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Intento con ítems faltantes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un QR de Empaque Listo en la mesa de salida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7F9"/>
          </a:solidFill>
          <a:ln w="1587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10030967" y="3502152"/>
            <a:ext cx="1399033" cy="1197864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escanear un QR de Empaque Listo en la mesa de salida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escanee el QR de Empaque Listo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falten productos en la lista del pedido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CE9EE"/>
          </a:solidFill>
          <a:ln w="22225">
            <a:solidFill>
              <a:srgbClr val="1C7293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Denegará el cierre mostrando una alerta roja de ítems faltantes.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Móvil (Bodega)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US-AI-01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de stock exitosa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consultar stock mediante lenguaje natural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4F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1"/>
            <a:ext cx="1344168" cy="754829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0" y="3502152"/>
            <a:ext cx="1478280" cy="118872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consultar stock mediante lenguaje natural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pregunte en el chat por el stock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producto exista en PostgreSQL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DDEE7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Ejecutará Function Calling, consultará la BD y responderá con datos.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US-AI-01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inexistente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consultar stock mediante lenguaje natural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4F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3093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49403" y="3502152"/>
            <a:ext cx="1580597" cy="11430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consultar stock mediante lenguaje natural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pregunte en el chat por el stock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SKU consultado no exista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DDEE7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responderá que no existe, evitando alucinaciones de inventario.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US-AI-02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protocolo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hacer preguntas operativas al Copiloto (RAG)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4F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471492"/>
            <a:ext cx="1316736" cy="573459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0" y="3502152"/>
            <a:ext cx="1478280" cy="1161288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hacer preguntas operativas al Copiloto (RAG)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consulte por un procedimiento logístico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manual esté en la BD vectorial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DDEE7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Buscará el fragmento exacto y generará una instrucción paso a paso.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US-AI-02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 Off-topic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hacer preguntas operativas al Copiloto (RAG)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3F4F7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Operario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30936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49395" y="3502152"/>
            <a:ext cx="1580605" cy="114300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hacer preguntas operativas al Copiloto (RAG)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consulte un tema ajeno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la pregunta no sea del ámbito logístico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DDEE7"/>
          </a:solidFill>
          <a:ln w="22225">
            <a:solidFill>
              <a:srgbClr val="1E2761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Denegará amablemente indicando que es un asistente de bodega.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US-BI-01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Visualización de KPI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gráfico de Lead 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8F9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3093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0" y="3502152"/>
            <a:ext cx="1478280" cy="116128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gráfico de Lead Time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acceda a la pestaña Dashboards BI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existan órdenes completadas en el sistema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BEE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Calculará el delta de tiempo por orden y renderizará el gráfico.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US-BI-01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Ausencia de datos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gráfico de Lead Time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8F9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3093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05855" y="3502152"/>
            <a:ext cx="1624146" cy="11430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visualizar un gráfico de Lead Time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aplique el filtro de fechas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filtre un periodo sin operación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BEE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Limpiará el gráfico indicando la falta de datos suficientes.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US-BI-02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bajo stock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ver un widget de alerta predictiva de stock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8F9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01189" y="2359152"/>
            <a:ext cx="1439091" cy="630936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84231" y="3502152"/>
            <a:ext cx="1545769" cy="115214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ver un widget de alerta predictiva de stock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tablero termine de cargar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stock caiga bajo su umbral mínimo configurado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BEE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Mostrará los SKUs críticos en color rojo indicando unidades restantes.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US-BI-02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saludable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ver un widget de alerta predictiva de stock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8F9"/>
          </a:solidFill>
          <a:ln w="15875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84234" y="3502152"/>
            <a:ext cx="1545766" cy="114300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ver un widget de alerta predictiva de stock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tablero termine de cargar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todo el stock esté sobre el umbral mínimo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BEE"/>
          </a:solidFill>
          <a:ln w="22225">
            <a:solidFill>
              <a:srgbClr val="028090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Mostrará un estado en verde indicando: Stock Saludable.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US-IOT-01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Lectura normal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monitorear temperatura/humedad ambiental con DHT22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6F8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30936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875521" y="3502152"/>
            <a:ext cx="1554479" cy="118872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monitorear temperatura/humedad ambiental con DHT22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backend reciba la telemetría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el ESP32 envíe lectura dentro de rangos seguros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6EC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Guardará el dato en BD silenciosamente y actualizará el panel en verde.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Sensores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US-IOT-01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Alerta umbral excedido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monitorear temperatura/humedad ambiental con DHT22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6F8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722376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771017" y="3502152"/>
            <a:ext cx="1658983" cy="1060704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monitorear temperatura/humedad ambiental con DHT22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backend reciba la telemetría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la lectura supere el límite máximo seguro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6EC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Disparará una alarma sonora y visual en la pantalla web del Jefe.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Sensores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US-IOT-02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impacto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detectar impactos físicos de la carga con MPU6050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6F8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0" y="3502152"/>
            <a:ext cx="1478280" cy="11430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detectar impactos físicos de la carga con MPU6050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sensor transmita el evento de impacto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la Fuerza G supere el límite preestablecido tolerado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6EC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Cambiará el estado del producto a 'En Cuarentena' y emitirá alerta.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Sensores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457200" y="365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US-IOT-02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21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2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29260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normal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423160" y="71323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Historia: </a:t>
            </a:r>
            <a:r>
              <a:rPr lang="en-US" sz="11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detectar impactos físicos de la carga con MPU6050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828800" y="1170432"/>
            <a:ext cx="8869680" cy="5074920"/>
          </a:xfrm>
          <a:prstGeom prst="roundRect">
            <a:avLst>
              <a:gd name="adj" fmla="val 1081"/>
            </a:avLst>
          </a:prstGeom>
          <a:solidFill>
            <a:srgbClr val="F2F6F8"/>
          </a:solidFill>
          <a:ln w="15875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1965960" y="124358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El Wen WMS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6858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 rot="-1080000">
            <a:off x="2286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 flipH="1">
            <a:off x="6858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858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 txBox="1"/>
          <p:nvPr/>
        </p:nvSpPr>
        <p:spPr>
          <a:xfrm>
            <a:off x="0" y="4297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 txBox="1"/>
          <p:nvPr/>
        </p:nvSpPr>
        <p:spPr>
          <a:xfrm>
            <a:off x="347472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219688" y="2880360"/>
            <a:ext cx="420624" cy="42062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11430000" y="3300984"/>
            <a:ext cx="0" cy="50292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 rot="-1080000">
            <a:off x="10972800" y="3502152"/>
            <a:ext cx="9144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 flipH="1">
            <a:off x="11430000" y="3803904"/>
            <a:ext cx="0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11430000" y="3803904"/>
            <a:ext cx="292608" cy="38404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 txBox="1"/>
          <p:nvPr/>
        </p:nvSpPr>
        <p:spPr>
          <a:xfrm>
            <a:off x="10881360" y="4297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Jefe de Bodega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981944" y="2587752"/>
            <a:ext cx="768096" cy="219456"/>
          </a:xfrm>
          <a:prstGeom prst="roundRect">
            <a:avLst>
              <a:gd name="adj" fmla="val 16667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 txBox="1"/>
          <p:nvPr/>
        </p:nvSpPr>
        <p:spPr>
          <a:xfrm>
            <a:off x="10981944" y="2587752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 flipV="1">
            <a:off x="896112" y="2359152"/>
            <a:ext cx="1344168" cy="6858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5897880" y="235915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06908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8458200" y="3044952"/>
            <a:ext cx="0" cy="132588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5897880" y="5056632"/>
            <a:ext cx="731520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 flipV="1">
            <a:off x="9951720" y="3502152"/>
            <a:ext cx="1478280" cy="11430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224028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 txBox="1"/>
          <p:nvPr/>
        </p:nvSpPr>
        <p:spPr>
          <a:xfrm>
            <a:off x="249631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Necesito detectar impactos físicos de la carga con MPU6050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29400" y="167335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 txBox="1"/>
          <p:nvPr/>
        </p:nvSpPr>
        <p:spPr>
          <a:xfrm>
            <a:off x="6885432" y="186537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sensor transmita la lectura continua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240280" y="4370832"/>
            <a:ext cx="3657600" cy="13716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 txBox="1"/>
          <p:nvPr/>
        </p:nvSpPr>
        <p:spPr>
          <a:xfrm>
            <a:off x="249631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caso que registre un movimiento de manipulación leve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9400" y="4370832"/>
            <a:ext cx="3657600" cy="1371600"/>
          </a:xfrm>
          <a:prstGeom prst="ellipse">
            <a:avLst/>
          </a:prstGeom>
          <a:solidFill>
            <a:srgbClr val="D9E6EC"/>
          </a:solidFill>
          <a:ln w="22225">
            <a:solidFill>
              <a:srgbClr val="065A82"/>
            </a:solidFill>
            <a:prstDash val="solid"/>
          </a:ln>
          <a:effectLst>
            <a:outerShdw blurRad="50800" dist="254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 txBox="1"/>
          <p:nvPr/>
        </p:nvSpPr>
        <p:spPr>
          <a:xfrm>
            <a:off x="6885432" y="4562856"/>
            <a:ext cx="314553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Ignorará la lectura por ser de bajo impacto, evitando falsas alarmas.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224028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629400" y="1453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(disparador)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2402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(precondición)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62940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y Sensores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10817352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4703</Words>
  <Application>Microsoft Office PowerPoint</Application>
  <PresentationFormat>Panorámica</PresentationFormat>
  <Paragraphs>650</Paragraphs>
  <Slides>31</Slides>
  <Notes>31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LUIS ARTURO CASTRO GONZÁLEZ</cp:lastModifiedBy>
  <cp:revision>2</cp:revision>
  <dcterms:created xsi:type="dcterms:W3CDTF">2026-09-04T03:46:13Z</dcterms:created>
  <dcterms:modified xsi:type="dcterms:W3CDTF">2026-09-04T04:03:56Z</dcterms:modified>
</cp:coreProperties>
</file>
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77" r:id="rId3"/>
  </p:sldIdLst>
  <p:sldSz cx="9144000" cy="6858000" type="screen4x3"/>
  <p:notesSz cx="6858000" cy="9144000"/>
  <p:defaultTextStyle>
    <a:defPPr>
      <a:defRPr lang="es-V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8E8"/>
    <a:srgbClr val="E9E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38" autoAdjust="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es-VE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0904D9D-9168-48DB-83A0-B43436BF9B37}" type="datetimeFigureOut">
              <a:rPr lang="es-VE"/>
              <a:pPr>
                <a:defRPr/>
              </a:pPr>
              <a:t>4/9/2026</a:t>
            </a:fld>
            <a:endParaRPr lang="es-VE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VE" noProof="0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VE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es-VE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59F6A52-6298-42CA-B509-ACBC186838DD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0103430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 dirty="0">
              <a:latin typeface="+mn-lt"/>
              <a:cs typeface="+mn-cs"/>
            </a:endParaRPr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 dirty="0">
                <a:solidFill>
                  <a:srgbClr val="0D0D0D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 dirty="0">
              <a:latin typeface="+mn-lt"/>
              <a:cs typeface="+mn-cs"/>
            </a:endParaRP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 dirty="0">
                <a:solidFill>
                  <a:srgbClr val="365F91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8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8123E-0D08-472C-B70C-F129ABDF8BD7}" type="datetime1">
              <a:rPr lang="es-VE"/>
              <a:pPr>
                <a:defRPr/>
              </a:pPr>
              <a:t>4/9/2026</a:t>
            </a:fld>
            <a:endParaRPr lang="es-VE" dirty="0"/>
          </a:p>
        </p:txBody>
      </p:sp>
      <p:sp>
        <p:nvSpPr>
          <p:cNvPr id="9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s-VE" dirty="0"/>
          </a:p>
        </p:txBody>
      </p:sp>
      <p:sp>
        <p:nvSpPr>
          <p:cNvPr id="1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383BE-0192-4720-9198-38EE4B446234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 dirty="0">
              <a:latin typeface="+mn-lt"/>
              <a:cs typeface="+mn-cs"/>
            </a:endParaRPr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 dirty="0">
                <a:solidFill>
                  <a:srgbClr val="0D0D0D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 dirty="0">
                <a:solidFill>
                  <a:srgbClr val="365F91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CA1287-3C34-49E0-ACA6-FF6FE3953718}" type="datetime1">
              <a:rPr lang="es-VE"/>
              <a:pPr>
                <a:defRPr/>
              </a:pPr>
              <a:t>4/9/2026</a:t>
            </a:fld>
            <a:endParaRPr lang="es-VE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s-V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89D32-9D0E-4F97-8AFF-238607D770DE}" type="datetime1">
              <a:rPr lang="es-VE"/>
              <a:pPr>
                <a:defRPr/>
              </a:pPr>
              <a:t>4/9/2026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0A83FC-564C-4FC3-9FE3-73ADFF6C30B7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 dirty="0">
              <a:latin typeface="+mn-lt"/>
              <a:cs typeface="+mn-cs"/>
            </a:endParaRPr>
          </a:p>
        </p:txBody>
      </p:sp>
      <p:sp>
        <p:nvSpPr>
          <p:cNvPr id="6" name="Rectangle 3"/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 dirty="0">
                <a:solidFill>
                  <a:srgbClr val="0D0D0D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 dirty="0">
                <a:solidFill>
                  <a:srgbClr val="365F91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8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50390-F445-48F2-BC28-352004012CBD}" type="datetime1">
              <a:rPr lang="es-VE"/>
              <a:pPr>
                <a:defRPr/>
              </a:pPr>
              <a:t>4/9/2026</a:t>
            </a:fld>
            <a:endParaRPr lang="es-VE" dirty="0"/>
          </a:p>
        </p:txBody>
      </p:sp>
      <p:sp>
        <p:nvSpPr>
          <p:cNvPr id="9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s-VE" dirty="0"/>
          </a:p>
        </p:txBody>
      </p:sp>
      <p:sp>
        <p:nvSpPr>
          <p:cNvPr id="10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E0BD00-1B5D-4D77-B27A-698F25FE46FB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 dirty="0">
              <a:latin typeface="+mn-lt"/>
              <a:cs typeface="+mn-cs"/>
            </a:endParaRPr>
          </a:p>
        </p:txBody>
      </p:sp>
      <p:sp>
        <p:nvSpPr>
          <p:cNvPr id="8" name="Rectangle 3"/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 dirty="0">
                <a:solidFill>
                  <a:srgbClr val="0D0D0D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 dirty="0">
                <a:solidFill>
                  <a:srgbClr val="365F91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10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1E5A29-DD58-4F98-B717-B6A1AFB07018}" type="datetime1">
              <a:rPr lang="es-VE"/>
              <a:pPr>
                <a:defRPr/>
              </a:pPr>
              <a:t>4/9/2026</a:t>
            </a:fld>
            <a:endParaRPr lang="es-VE" dirty="0"/>
          </a:p>
        </p:txBody>
      </p:sp>
      <p:sp>
        <p:nvSpPr>
          <p:cNvPr id="11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s-VE" dirty="0"/>
          </a:p>
        </p:txBody>
      </p:sp>
      <p:sp>
        <p:nvSpPr>
          <p:cNvPr id="12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41C12-7BC0-4121-9951-888A18C1A6E2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015DC2-ABCF-41A0-9CE7-31C47E29BD3B}" type="datetime1">
              <a:rPr lang="es-VE"/>
              <a:pPr>
                <a:defRPr/>
              </a:pPr>
              <a:t>4/9/2026</a:t>
            </a:fld>
            <a:endParaRPr lang="es-VE" dirty="0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dirty="0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8769E-51EE-4376-B68B-337A0A9EC301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CCFFE-B370-4C62-B853-E17A73FB89EA}" type="datetime1">
              <a:rPr lang="es-VE"/>
              <a:pPr>
                <a:defRPr/>
              </a:pPr>
              <a:t>4/9/2026</a:t>
            </a:fld>
            <a:endParaRPr lang="es-VE" dirty="0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dirty="0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0A117-6C6C-4D4A-8F2E-F17A2A41F9E5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B25E8-F03A-4D08-BC2E-8312441BCFEC}" type="datetime1">
              <a:rPr lang="es-VE"/>
              <a:pPr>
                <a:defRPr/>
              </a:pPr>
              <a:t>4/9/2026</a:t>
            </a:fld>
            <a:endParaRPr lang="es-VE" dirty="0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dirty="0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260E2A-07D7-432E-8C29-71938A26061A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VE" noProof="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D3366-778F-4BD5-BD03-369B496DC820}" type="datetime1">
              <a:rPr lang="es-VE"/>
              <a:pPr>
                <a:defRPr/>
              </a:pPr>
              <a:t>4/9/2026</a:t>
            </a:fld>
            <a:endParaRPr lang="es-VE" dirty="0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dirty="0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2F224-79C8-4C7A-8230-1B7C9B9B112C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78FAE-9FD9-40B7-A185-579ED235D951}" type="datetime1">
              <a:rPr lang="es-VE"/>
              <a:pPr>
                <a:defRPr/>
              </a:pPr>
              <a:t>4/9/2026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8A464E-DEBD-481B-BC28-278AE16E4B8A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14E014-C994-46F2-AC56-96902BFAC91B}" type="datetime1">
              <a:rPr lang="es-VE"/>
              <a:pPr>
                <a:defRPr/>
              </a:pPr>
              <a:t>4/9/2026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8D91A-6852-4D17-BA31-E353A5CA3419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6A7A2F3-BC87-4178-8732-E3518D618DAA}" type="datetime1">
              <a:rPr lang="es-VE"/>
              <a:pPr>
                <a:defRPr/>
              </a:pPr>
              <a:t>4/9/2026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VE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EFEFD63-5D7E-4B2F-B2EE-382FB4F3EF8A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39" r:id="rId3"/>
    <p:sldLayoutId id="2147483748" r:id="rId4"/>
    <p:sldLayoutId id="214748374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730623"/>
          </a:xfrm>
        </p:spPr>
        <p:txBody>
          <a:bodyPr/>
          <a:lstStyle/>
          <a:p>
            <a:pPr eaLnBrk="1" hangingPunct="1">
              <a:defRPr/>
            </a:pPr>
            <a:r>
              <a:rPr lang="es-VE" b="1" dirty="0"/>
              <a:t>Hoja de ruta del producto </a:t>
            </a:r>
            <a:br>
              <a:rPr lang="es-VE" b="1" dirty="0"/>
            </a:br>
            <a:r>
              <a:rPr lang="es-VE" b="1" dirty="0"/>
              <a:t>(Agile Roadmap)</a:t>
            </a:r>
            <a:r>
              <a:rPr lang="es-VE" sz="2400" b="1" dirty="0">
                <a:solidFill>
                  <a:srgbClr val="00B050"/>
                </a:solidFill>
              </a:rPr>
              <a:t> </a:t>
            </a:r>
            <a:br>
              <a:rPr lang="es-VE" sz="2400" b="1" dirty="0">
                <a:solidFill>
                  <a:srgbClr val="00B050"/>
                </a:solidFill>
              </a:rPr>
            </a:br>
            <a:r>
              <a:rPr lang="es-VE" sz="2400" b="1" dirty="0">
                <a:solidFill>
                  <a:srgbClr val="00B050"/>
                </a:solidFill>
              </a:rPr>
              <a:t>[</a:t>
            </a:r>
            <a:r>
              <a:rPr lang="es-VE" sz="2400" b="1" dirty="0" err="1">
                <a:solidFill>
                  <a:srgbClr val="00B050"/>
                </a:solidFill>
              </a:rPr>
              <a:t>SmartWMS</a:t>
            </a:r>
            <a:r>
              <a:rPr lang="es-VE" sz="2400" b="1" dirty="0">
                <a:solidFill>
                  <a:srgbClr val="00B050"/>
                </a:solidFill>
              </a:rPr>
              <a:t>/ Proyecto </a:t>
            </a:r>
            <a:r>
              <a:rPr lang="es-VE" sz="2400" b="1" dirty="0" err="1">
                <a:solidFill>
                  <a:srgbClr val="00B050"/>
                </a:solidFill>
              </a:rPr>
              <a:t>SmartWMS</a:t>
            </a:r>
            <a:r>
              <a:rPr lang="es-VE" sz="2400" b="1" dirty="0">
                <a:solidFill>
                  <a:srgbClr val="00B050"/>
                </a:solidFill>
              </a:rPr>
              <a:t>]</a:t>
            </a:r>
            <a:endParaRPr lang="es-VE" sz="2400" b="1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3638" y="4229405"/>
            <a:ext cx="6116724" cy="2135262"/>
          </a:xfrm>
        </p:spPr>
        <p:txBody>
          <a:bodyPr rtlCol="0">
            <a:normAutofit fontScale="85000" lnSpcReduction="1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 dirty="0"/>
              <a:t>Período: </a:t>
            </a:r>
            <a:r>
              <a:rPr lang="es-VE" sz="2800" b="1" dirty="0">
                <a:solidFill>
                  <a:srgbClr val="00B050"/>
                </a:solidFill>
              </a:rPr>
              <a:t>[04/09/2026] al [11/12/2026]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s-VE" sz="2800" b="1" dirty="0"/>
              <a:t>Organización: </a:t>
            </a:r>
            <a:r>
              <a:rPr lang="es-VE" sz="2800" b="1" dirty="0">
                <a:solidFill>
                  <a:srgbClr val="00B050"/>
                </a:solidFill>
              </a:rPr>
              <a:t>[Empresa / Organización]</a:t>
            </a:r>
            <a:endParaRPr lang="es-VE" sz="2800" b="1" dirty="0"/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s-VE" sz="2800" b="1" dirty="0"/>
              <a:t>Cliente: </a:t>
            </a:r>
            <a:r>
              <a:rPr lang="es-VE" sz="2800" b="1" dirty="0">
                <a:solidFill>
                  <a:srgbClr val="00B050"/>
                </a:solidFill>
              </a:rPr>
              <a:t>[Principal cliente interno del proyecto]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s-VE" sz="2800" b="1" dirty="0"/>
              <a:t>Dueño del producto (Owner): </a:t>
            </a:r>
            <a:r>
              <a:rPr lang="es-VE" sz="2800" b="1" dirty="0">
                <a:solidFill>
                  <a:srgbClr val="00B050"/>
                </a:solidFill>
              </a:rPr>
              <a:t>[Fabian Saldaño]</a:t>
            </a:r>
          </a:p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 dirty="0"/>
              <a:t>Scrum Master: </a:t>
            </a:r>
            <a:r>
              <a:rPr lang="es-VE" sz="2800" b="1" dirty="0">
                <a:solidFill>
                  <a:srgbClr val="00B050"/>
                </a:solidFill>
              </a:rPr>
              <a:t>[Luis Castro G.]</a:t>
            </a:r>
            <a:endParaRPr lang="es-VE" sz="2800" b="1" dirty="0"/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s-VE" sz="2800" b="1" dirty="0">
              <a:solidFill>
                <a:srgbClr val="00B050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BBE491-7CC4-4674-AE06-167FAC1922A8}" type="slidenum">
              <a:rPr lang="es-VE" smtClean="0"/>
              <a:pPr>
                <a:defRPr/>
              </a:pPr>
              <a:t>1</a:t>
            </a:fld>
            <a:endParaRPr lang="es-V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900" y="994410"/>
            <a:ext cx="843534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 b="1">
                <a:solidFill>
                  <a:srgbClr val="0056B3"/>
                </a:solidFill>
              </a:defRPr>
            </a:pPr>
            <a:r>
              <a:t>Hoja de Ruta del Producto (Agile Roadmap) - SmartWMS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900"/>
              <a:t>Período: 04/09/2026 al 11/12/2026 (16 Semanas)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900"/>
              <a:t>Organización: DUOC UC (Proyecto de Título)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900"/>
              <a:t>Cliente: Sponsor / Gerencia General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900"/>
              <a:t>Dueño del producto (Owner): Jefe de Bodega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 sz="900"/>
              <a:t>Scrum Master: Jefe de Proyecto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2900" y="2228850"/>
          <a:ext cx="8435340" cy="346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Flujos de Trabajo</a:t>
                      </a:r>
                    </a:p>
                  </a:txBody>
                  <a:tcPr marL="68580" marR="68580" marT="34290" marB="34290">
                    <a:solidFill>
                      <a:srgbClr val="0056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Mes 1 (Septiembre)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Sprints 0 y 1</a:t>
                      </a:r>
                    </a:p>
                  </a:txBody>
                  <a:tcPr marL="68580" marR="68580" marT="34290" marB="34290">
                    <a:solidFill>
                      <a:srgbClr val="0056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Mes 2 (Octubre)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Sprints 2 y 3</a:t>
                      </a:r>
                    </a:p>
                  </a:txBody>
                  <a:tcPr marL="68580" marR="68580" marT="34290" marB="34290">
                    <a:solidFill>
                      <a:srgbClr val="0056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Mes 3 (Noviembre)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Sprints 4 y 5</a:t>
                      </a:r>
                    </a:p>
                  </a:txBody>
                  <a:tcPr marL="68580" marR="68580" marT="34290" marB="34290">
                    <a:solidFill>
                      <a:srgbClr val="0056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Mes 4 (Diciembre)</a:t>
                      </a:r>
                    </a:p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Sprints 6 y 7</a:t>
                      </a:r>
                    </a:p>
                  </a:txBody>
                  <a:tcPr marL="68580" marR="68580" marT="34290" marB="34290">
                    <a:solidFill>
                      <a:srgbClr val="005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rPr sz="900"/>
                        <a:t>1. Arquitectura Cloud &amp; Backend (GCP)</a:t>
                      </a:r>
                    </a:p>
                  </a:txBody>
                  <a:tcPr marL="68580" marR="68580" marT="34290" marB="3429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SP0: Setup GCP (Cloud Run, Cloud SQL).</a:t>
                      </a:r>
                    </a:p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SP0: Diseño MER y UML.</a:t>
                      </a:r>
                    </a:p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SP1: API FastAPI y Auth JWT.</a:t>
                      </a:r>
                    </a:p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SP1: Webhooks E-commerce.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endParaRPr sz="8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endParaRPr sz="8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SP7: Pruebas de estrés backend.</a:t>
                      </a:r>
                    </a:p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SP7: Certificación de Seguridad Ley 21.719.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rPr sz="900"/>
                        <a:t>2. Interfaces de Usuario (Web &amp; App Móvil)</a:t>
                      </a:r>
                    </a:p>
                  </a:txBody>
                  <a:tcPr marL="68580" marR="68580" marT="34290" marB="3429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endParaRPr sz="8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SP2: Dashboard Web Admin.</a:t>
                      </a:r>
                    </a:p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SP2: Mapeo de Layout Físico.</a:t>
                      </a:r>
                    </a:p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SP3: App Híbrida Ionic.</a:t>
                      </a:r>
                    </a:p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SP3: Escaneo QR Zero-Touch (Picking).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endParaRPr sz="8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endParaRPr sz="8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rPr sz="900"/>
                        <a:t>3. Ecosistema Inteligente (IA &amp; BI)</a:t>
                      </a:r>
                    </a:p>
                  </a:txBody>
                  <a:tcPr marL="68580" marR="68580" marT="34290" marB="3429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endParaRPr sz="8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endParaRPr sz="8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SP4: Copiloto IA (Function Calling).</a:t>
                      </a:r>
                    </a:p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SP4: Vectorización RAG (pgvector).</a:t>
                      </a:r>
                    </a:p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SP5: Tableros BI (Lead Time).</a:t>
                      </a:r>
                    </a:p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SP5: Alertas Predictivas de Quiebres.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endParaRPr sz="8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rPr sz="900"/>
                        <a:t>4. Hardware &amp; Telemetría (IoT)</a:t>
                      </a:r>
                    </a:p>
                  </a:txBody>
                  <a:tcPr marL="68580" marR="68580" marT="34290" marB="3429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endParaRPr sz="8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endParaRPr sz="8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endParaRPr sz="8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SP6: Configuración Nodos ESP32.</a:t>
                      </a:r>
                    </a:p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SP6: Telemetría MPU6050 (Fuerza G) y DHT22.</a:t>
                      </a:r>
                    </a:p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rPr sz="800"/>
                        <a:t>• SP7: Entrega de Prototipo Final.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331</Words>
  <Application>Microsoft Office PowerPoint</Application>
  <PresentationFormat>Presentación en pantalla (4:3)</PresentationFormat>
  <Paragraphs>44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de Office</vt:lpstr>
      <vt:lpstr>Hoja de ruta del producto  (Agile Roadmap)  [SmartWMS/ Proyecto SmartWMS]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admin</dc:creator>
  <cp:lastModifiedBy>LUIS ARTURO CASTRO GONZÁLEZ</cp:lastModifiedBy>
  <cp:revision>48</cp:revision>
  <dcterms:created xsi:type="dcterms:W3CDTF">2013-07-13T16:52:20Z</dcterms:created>
  <dcterms:modified xsi:type="dcterms:W3CDTF">2026-09-04T06:04:29Z</dcterms:modified>
</cp:coreProperties>
</file>